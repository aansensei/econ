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416" r:id="rId3"/>
    <p:sldId id="415" r:id="rId4"/>
    <p:sldId id="417" r:id="rId5"/>
    <p:sldId id="418" r:id="rId6"/>
    <p:sldId id="422" r:id="rId7"/>
    <p:sldId id="427" r:id="rId8"/>
    <p:sldId id="423" r:id="rId9"/>
    <p:sldId id="420" r:id="rId10"/>
    <p:sldId id="424" r:id="rId11"/>
  </p:sldIdLst>
  <p:sldSz cx="12192000" cy="6858000"/>
  <p:notesSz cx="7099300" cy="9385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8F264D-41FD-3F49-97AF-1EDE5D7C21B8}" v="15" dt="2026-06-16T16:52:26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712" autoAdjust="0"/>
  </p:normalViewPr>
  <p:slideViewPr>
    <p:cSldViewPr snapToGrid="0">
      <p:cViewPr varScale="1">
        <p:scale>
          <a:sx n="109" d="100"/>
          <a:sy n="109" d="100"/>
        </p:scale>
        <p:origin x="1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470895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470895"/>
          </a:xfrm>
          <a:prstGeom prst="rect">
            <a:avLst/>
          </a:prstGeom>
        </p:spPr>
        <p:txBody>
          <a:bodyPr vert="horz" lIns="94192" tIns="47096" rIns="94192" bIns="47096" rtlCol="0"/>
          <a:lstStyle>
            <a:lvl1pPr algn="r">
              <a:defRPr sz="1200"/>
            </a:lvl1pPr>
          </a:lstStyle>
          <a:p>
            <a:fld id="{F46223BF-7546-4012-89BF-E7E465EBF9C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29275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192" tIns="47096" rIns="94192" bIns="4709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516676"/>
            <a:ext cx="5679440" cy="3695462"/>
          </a:xfrm>
          <a:prstGeom prst="rect">
            <a:avLst/>
          </a:prstGeom>
        </p:spPr>
        <p:txBody>
          <a:bodyPr vert="horz" lIns="94192" tIns="47096" rIns="94192" bIns="4709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4407"/>
            <a:ext cx="3076363" cy="470894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8914407"/>
            <a:ext cx="3076363" cy="470894"/>
          </a:xfrm>
          <a:prstGeom prst="rect">
            <a:avLst/>
          </a:prstGeom>
        </p:spPr>
        <p:txBody>
          <a:bodyPr vert="horz" lIns="94192" tIns="47096" rIns="94192" bIns="47096" rtlCol="0" anchor="b"/>
          <a:lstStyle>
            <a:lvl1pPr algn="r">
              <a:defRPr sz="1200"/>
            </a:lvl1pPr>
          </a:lstStyle>
          <a:p>
            <a:fld id="{8BD81FDD-111E-4B83-8E84-779E68E19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57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70275">
              <a:defRPr/>
            </a:pPr>
            <a:fld id="{893B0CF2-7F87-4E02-A248-870047730F99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70275"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11275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AD93D-13F5-1547-8AB9-E36A1A5A8AC5}" type="datetime1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ig_Red_log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2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8408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143892"/>
            <a:ext cx="9448800" cy="249490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F7598-CB3A-844D-B240-19CDAEF6B021}" type="datetime1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Red_logo_bandPC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855" y="0"/>
            <a:ext cx="1158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39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26921" y="0"/>
            <a:ext cx="12318921" cy="6858000"/>
          </a:xfrm>
          <a:prstGeom prst="rect">
            <a:avLst/>
          </a:prstGeom>
          <a:gradFill flip="none" rotWithShape="1">
            <a:gsLst>
              <a:gs pos="63000">
                <a:srgbClr val="C3020B"/>
              </a:gs>
              <a:gs pos="92000">
                <a:srgbClr val="9F0000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-250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8408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143892"/>
            <a:ext cx="9448800" cy="249490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 descr="Red_logo_bandPC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013" y="0"/>
            <a:ext cx="1158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75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 tIns="0" rIns="0" bIns="0"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FontTx/>
              <a:buNone/>
              <a:defRPr sz="1800">
                <a:latin typeface="Calibri"/>
              </a:defRPr>
            </a:lvl1pPr>
            <a:lvl2pPr>
              <a:defRPr>
                <a:latin typeface="Calibri"/>
              </a:defRPr>
            </a:lvl2pPr>
            <a:lvl3pPr>
              <a:defRPr>
                <a:latin typeface="Calibri"/>
              </a:defRPr>
            </a:lvl3pPr>
            <a:lvl4pPr>
              <a:defRPr>
                <a:latin typeface="Calibri"/>
              </a:defRPr>
            </a:lvl4pPr>
            <a:lvl5pPr>
              <a:defRPr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6FECD-E778-D741-B4A7-C84ACFD8E436}" type="datetime1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8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DC7A6-F700-1B45-B3D9-3BD4EDB9E8C9}" type="datetime1">
              <a:rPr lang="en-US" smtClean="0"/>
              <a:t>6/17/26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6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0" tIns="0" rIns="0" bIns="0"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/>
              </a:defRPr>
            </a:lvl1pPr>
            <a:lvl2pPr>
              <a:defRPr>
                <a:latin typeface="Calibri"/>
              </a:defRPr>
            </a:lvl2pPr>
            <a:lvl3pPr>
              <a:defRPr>
                <a:latin typeface="Calibri"/>
              </a:defRPr>
            </a:lvl3pPr>
            <a:lvl4pPr>
              <a:defRPr>
                <a:latin typeface="Calibri"/>
              </a:defRPr>
            </a:lvl4pPr>
            <a:lvl5pPr>
              <a:defRPr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8880B-AA47-5D42-ABDC-9241961D08C6}" type="datetime1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9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056" y="2249329"/>
            <a:ext cx="9896624" cy="1362075"/>
          </a:xfrm>
        </p:spPr>
        <p:txBody>
          <a:bodyPr anchor="t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7056" y="1713730"/>
            <a:ext cx="9896624" cy="517818"/>
          </a:xfrm>
        </p:spPr>
        <p:txBody>
          <a:bodyPr anchor="t" anchorCtr="0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E44D-17DC-6740-9B20-E06BD0C3A845}" type="datetime1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99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7056" y="1600201"/>
            <a:ext cx="4553763" cy="4525963"/>
          </a:xfrm>
        </p:spPr>
        <p:txBody>
          <a:bodyPr/>
          <a:lstStyle>
            <a:lvl1pPr marL="182880" indent="-182880">
              <a:spcBef>
                <a:spcPts val="800"/>
              </a:spcBef>
              <a:defRPr sz="2200" kern="1400" spc="20"/>
            </a:lvl1pPr>
            <a:lvl2pPr marL="548640" indent="-182880">
              <a:spcBef>
                <a:spcPts val="700"/>
              </a:spcBef>
              <a:defRPr sz="2000"/>
            </a:lvl2pPr>
            <a:lvl3pPr marL="822960" indent="-164592">
              <a:spcBef>
                <a:spcPts val="500"/>
              </a:spcBef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18248" y="1600201"/>
            <a:ext cx="4537323" cy="4525963"/>
          </a:xfrm>
        </p:spPr>
        <p:txBody>
          <a:bodyPr/>
          <a:lstStyle>
            <a:lvl1pPr marL="182880" indent="-182880">
              <a:spcBef>
                <a:spcPts val="800"/>
              </a:spcBef>
              <a:defRPr sz="2200"/>
            </a:lvl1pPr>
            <a:lvl2pPr marL="548640" indent="-182880">
              <a:spcBef>
                <a:spcPts val="700"/>
              </a:spcBef>
              <a:defRPr sz="2000"/>
            </a:lvl2pPr>
            <a:lvl3pPr marL="822960" indent="-164592">
              <a:spcBef>
                <a:spcPts val="500"/>
              </a:spcBef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C2C0D-BD5A-AD44-AA74-521B5A282F79}" type="datetime1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3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7057" y="1535113"/>
            <a:ext cx="4586641" cy="52382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1" baseline="0">
                <a:solidFill>
                  <a:srgbClr val="B6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7057" y="2174875"/>
            <a:ext cx="4586641" cy="3951288"/>
          </a:xfrm>
        </p:spPr>
        <p:txBody>
          <a:bodyPr/>
          <a:lstStyle>
            <a:lvl1pPr marL="182880" indent="-182880">
              <a:spcBef>
                <a:spcPts val="800"/>
              </a:spcBef>
              <a:defRPr sz="2000" baseline="0"/>
            </a:lvl1pPr>
            <a:lvl2pPr marL="457200" indent="-182880">
              <a:spcBef>
                <a:spcPts val="600"/>
              </a:spcBef>
              <a:defRPr sz="1800" baseline="0"/>
            </a:lvl2pPr>
            <a:lvl3pPr marL="640080" indent="-182880">
              <a:spcBef>
                <a:spcPts val="600"/>
              </a:spcBef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8929" y="1535113"/>
            <a:ext cx="4586640" cy="52382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1" baseline="0">
                <a:solidFill>
                  <a:srgbClr val="B6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8929" y="2174875"/>
            <a:ext cx="4586640" cy="3951288"/>
          </a:xfrm>
        </p:spPr>
        <p:txBody>
          <a:bodyPr/>
          <a:lstStyle>
            <a:lvl1pPr marL="182880" indent="-182880">
              <a:defRPr sz="2000" baseline="0"/>
            </a:lvl1pPr>
            <a:lvl2pPr marL="548640" indent="-182880">
              <a:spcBef>
                <a:spcPts val="600"/>
              </a:spcBef>
              <a:defRPr sz="1800" baseline="0"/>
            </a:lvl2pPr>
            <a:lvl3pPr marL="640080" indent="-182880">
              <a:spcBef>
                <a:spcPts val="600"/>
              </a:spcBef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3EB51-1B61-3A43-A508-D0F8C216A386}" type="datetime1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5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ABAA7-8792-3249-95E1-68306673F8EB}" type="datetime1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8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498D8-2452-384D-B8B1-90E6D75151B9}" type="datetime1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26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451" y="567134"/>
            <a:ext cx="9522119" cy="628777"/>
          </a:xfrm>
        </p:spPr>
        <p:txBody>
          <a:bodyPr anchor="t" anchorCtr="0">
            <a:noAutofit/>
          </a:bodyPr>
          <a:lstStyle>
            <a:lvl1pPr algn="l">
              <a:defRPr sz="2800" b="0" i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9148" y="1380846"/>
            <a:ext cx="5326421" cy="4745316"/>
          </a:xfrm>
        </p:spPr>
        <p:txBody>
          <a:bodyPr/>
          <a:lstStyle>
            <a:lvl1pPr marL="182880" indent="-192024">
              <a:spcBef>
                <a:spcPts val="800"/>
              </a:spcBef>
              <a:defRPr sz="2400" baseline="0"/>
            </a:lvl1pPr>
            <a:lvl2pPr marL="457200" indent="-201168">
              <a:spcBef>
                <a:spcPts val="600"/>
              </a:spcBef>
              <a:defRPr sz="2200"/>
            </a:lvl2pPr>
            <a:lvl3pPr marL="640080" indent="-182880">
              <a:spcBef>
                <a:spcPts val="600"/>
              </a:spcBef>
              <a:defRPr sz="2000"/>
            </a:lvl3pPr>
            <a:lvl4pPr marL="914400" indent="-182880">
              <a:spcBef>
                <a:spcPts val="500"/>
              </a:spcBef>
              <a:defRPr sz="1800" baseline="0"/>
            </a:lvl4pPr>
            <a:lvl5pPr marL="1097280" indent="-164592">
              <a:defRPr sz="18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3451" y="1380847"/>
            <a:ext cx="3784708" cy="4745317"/>
          </a:xfrm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9AA-5288-E245-A061-C8C655E66BB5}" type="datetime1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18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200"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474071"/>
            <a:ext cx="7315200" cy="69812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CCDF-4423-C34E-B6B9-5F907660D86A}" type="datetime1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WISCONSIN–MADISON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B097D-D2BB-5B47-8B21-CD5063D60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7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7057" y="543308"/>
            <a:ext cx="9518513" cy="85962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7055" y="1491809"/>
            <a:ext cx="9518515" cy="443709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5912" y="6393338"/>
            <a:ext cx="3158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F3DC7A6-F700-1B45-B3D9-3BD4EDB9E8C9}" type="datetime1">
              <a:rPr lang="en-US" smtClean="0"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49160" y="6393338"/>
            <a:ext cx="64723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UNIVERSITY OF WISCONSIN–MADISON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599" y="6393338"/>
            <a:ext cx="310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572B097D-D2BB-5B47-8B21-CD5063D60C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Red_logo_bandPC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855" y="0"/>
            <a:ext cx="1158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7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C3020B"/>
          </a:solidFill>
          <a:effectLst/>
          <a:latin typeface="Times New Roman"/>
          <a:ea typeface="+mj-ea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C3020B"/>
        </a:buClr>
        <a:buFont typeface="Arial"/>
        <a:buChar char="•"/>
        <a:defRPr sz="3000" kern="1200">
          <a:solidFill>
            <a:schemeClr val="tx1">
              <a:lumMod val="75000"/>
              <a:lumOff val="25000"/>
            </a:schemeClr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C3020B"/>
        </a:buClr>
        <a:buFont typeface="Arial"/>
        <a:buChar char="•"/>
        <a:defRPr sz="2600" kern="1200">
          <a:solidFill>
            <a:schemeClr val="tx1">
              <a:lumMod val="75000"/>
              <a:lumOff val="25000"/>
            </a:schemeClr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C3020B"/>
        </a:buClr>
        <a:buSzPct val="100000"/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/>
          <a:ea typeface="+mn-ea"/>
          <a:cs typeface="Arial"/>
        </a:defRPr>
      </a:lvl3pPr>
      <a:lvl4pPr marL="1554480" indent="-219456" algn="l" defTabSz="4572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SzPct val="100000"/>
        <a:buFont typeface="Arial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Arial"/>
          <a:ea typeface="+mn-ea"/>
          <a:cs typeface="Arial"/>
        </a:defRPr>
      </a:lvl4pPr>
      <a:lvl5pPr marL="1828800" indent="-182880" algn="l" defTabSz="457200" rtl="0" eaLnBrk="1" latinLnBrk="0" hangingPunct="1">
        <a:spcBef>
          <a:spcPts val="600"/>
        </a:spcBef>
        <a:buClr>
          <a:schemeClr val="tx1">
            <a:lumMod val="50000"/>
            <a:lumOff val="50000"/>
          </a:schemeClr>
        </a:buClr>
        <a:buSzPct val="100000"/>
        <a:buFont typeface="Arial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5049151_Changes_in_Hours_Worked_1950-200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fred.stlouisfed.org/graph/?g=1WVeL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fred.stlouisfed.org/graph/?g=1WVeB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1962616"/>
            <a:ext cx="10363200" cy="1008672"/>
          </a:xfrm>
        </p:spPr>
        <p:txBody>
          <a:bodyPr>
            <a:normAutofit/>
          </a:bodyPr>
          <a:lstStyle/>
          <a:p>
            <a:r>
              <a:rPr lang="en-US" dirty="0"/>
              <a:t>Trends in employment data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900" dirty="0"/>
              <a:t>References:</a:t>
            </a:r>
          </a:p>
          <a:p>
            <a:r>
              <a:rPr lang="en-US" sz="1900" dirty="0"/>
              <a:t> Chapter 4, </a:t>
            </a:r>
            <a:r>
              <a:rPr lang="en-US" sz="1900" u="sng" dirty="0"/>
              <a:t>Williamson</a:t>
            </a:r>
          </a:p>
          <a:p>
            <a:r>
              <a:rPr lang="en-US" sz="1900" u="sng" dirty="0" err="1">
                <a:hlinkClick r:id="rId3"/>
              </a:rPr>
              <a:t>McGratten</a:t>
            </a:r>
            <a:r>
              <a:rPr lang="en-US" sz="1900" u="sng" dirty="0">
                <a:hlinkClick r:id="rId3"/>
              </a:rPr>
              <a:t> and Rogerson, </a:t>
            </a:r>
            <a:r>
              <a:rPr lang="en-US" sz="1900" i="1" u="sng" dirty="0">
                <a:hlinkClick r:id="rId3"/>
              </a:rPr>
              <a:t>Changes in Hours Worked</a:t>
            </a:r>
            <a:endParaRPr lang="en-US" sz="1900" i="1" u="sng" dirty="0"/>
          </a:p>
          <a:p>
            <a:r>
              <a:rPr lang="en-US" sz="1900" u="sng" dirty="0">
                <a:hlinkClick r:id="rId3"/>
              </a:rPr>
              <a:t>FRED</a:t>
            </a:r>
            <a:endParaRPr lang="en-US" sz="1900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64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FCCB-5753-5C14-9B57-8B8A2F8B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E547-2B03-132B-82EB-6E775C7A6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Movements at the </a:t>
            </a:r>
            <a:r>
              <a:rPr lang="en-US" dirty="0">
                <a:solidFill>
                  <a:schemeClr val="tx1"/>
                </a:solidFill>
              </a:rPr>
              <a:t>extensive</a:t>
            </a:r>
            <a:r>
              <a:rPr lang="en-US" dirty="0"/>
              <a:t> margin seem driven by something other than real returns to employment</a:t>
            </a:r>
          </a:p>
        </p:txBody>
      </p:sp>
      <p:pic>
        <p:nvPicPr>
          <p:cNvPr id="3" name="FRED Graph Chart" descr="FRED Graph">
            <a:hlinkClick r:id="rId2" tooltip="View this chart in your browser. "/>
            <a:extLst>
              <a:ext uri="{FF2B5EF4-FFF2-40B4-BE49-F238E27FC236}">
                <a16:creationId xmlns:a16="http://schemas.microsoft.com/office/drawing/2014/main" id="{C9E6EB32-504F-57DD-6C3D-B59ECDADC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961" y="1783367"/>
            <a:ext cx="81915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1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866C-EB41-487C-B40B-36DABF32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Income effects appear to dominate substitution effects at the </a:t>
            </a:r>
            <a:r>
              <a:rPr lang="en-US" dirty="0">
                <a:solidFill>
                  <a:schemeClr val="tx1"/>
                </a:solidFill>
              </a:rPr>
              <a:t>intensive</a:t>
            </a:r>
            <a:r>
              <a:rPr lang="en-US" dirty="0"/>
              <a:t> margin over long periods of time</a:t>
            </a:r>
          </a:p>
        </p:txBody>
      </p:sp>
      <p:pic>
        <p:nvPicPr>
          <p:cNvPr id="8" name="FRED Graph Chart" descr="FRED Graph">
            <a:hlinkClick r:id="rId2" tooltip="View this chart in your browser. "/>
            <a:extLst>
              <a:ext uri="{FF2B5EF4-FFF2-40B4-BE49-F238E27FC236}">
                <a16:creationId xmlns:a16="http://schemas.microsoft.com/office/drawing/2014/main" id="{6FF07874-DC2D-0938-2C60-2D21C978D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580" y="1787611"/>
            <a:ext cx="819150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3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F511-01B6-C655-6305-7260E56B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 average annual hours is not the same as hours per worker (</a:t>
            </a:r>
            <a:r>
              <a:rPr lang="en-US" dirty="0" err="1"/>
              <a:t>Mcgratten</a:t>
            </a:r>
            <a:r>
              <a:rPr lang="en-US" dirty="0"/>
              <a:t> and Rogerson). Hours per worker has only fallen 5%: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193EF-CF43-D680-752A-C26999CFE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36" y="2006600"/>
            <a:ext cx="4610100" cy="4584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5277DB-C316-31FE-F503-891D793DC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573" y="3260969"/>
            <a:ext cx="44831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72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208D-6B18-A6F2-E824-EDCF6CA0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E2DB4-78FE-3D0A-0AA2-6487D7DFC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6854" y="543308"/>
            <a:ext cx="3498716" cy="859629"/>
          </a:xfrm>
        </p:spPr>
        <p:txBody>
          <a:bodyPr>
            <a:normAutofit fontScale="90000"/>
          </a:bodyPr>
          <a:lstStyle/>
          <a:p>
            <a:r>
              <a:rPr lang="en-US" dirty="0"/>
              <a:t>Most of the small remaining aggregate dynamics at the intensive margin are compositional effects, as women, who work on average fewer hours, make up more of the labor force.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8C66F-4FA5-10A5-1C0B-635D91368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91" y="0"/>
            <a:ext cx="2973860" cy="6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66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E7B38-7119-9F41-A49F-8D834BDD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Increased female labor force participation may reflect strong female-specific after-tax real wage increases (substitution effect)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2B6E0-CC04-4F0F-6466-D7D1A94D4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67" y="2070271"/>
            <a:ext cx="4559300" cy="407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FE164F-375E-DE8F-24CB-262B77AF2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853005"/>
            <a:ext cx="4134213" cy="465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5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B6C2-4BF7-6F99-FFB1-CE42A9F7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so far: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0890E-0E14-7EBE-A417-FCB8E22AB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breakdown of the aggregate intensive margin data could be interpreted as either</a:t>
            </a:r>
          </a:p>
          <a:p>
            <a:endParaRPr lang="en-US" dirty="0"/>
          </a:p>
          <a:p>
            <a:pPr marL="285750" indent="-285750">
              <a:buFont typeface="Symbol" pitchFamily="2" charset="2"/>
              <a:buChar char="Þ"/>
            </a:pPr>
            <a:r>
              <a:rPr lang="en-US" dirty="0"/>
              <a:t>Little-to-no sensitive of hours worked to changes in total real compensation (income and substitution effects cancel over the long run), or</a:t>
            </a:r>
          </a:p>
          <a:p>
            <a:pPr marL="285750" indent="-285750">
              <a:buFont typeface="Symbol" pitchFamily="2" charset="2"/>
              <a:buChar char="Þ"/>
            </a:pPr>
            <a:r>
              <a:rPr lang="en-US" dirty="0"/>
              <a:t>Substitution effects being strong enough to dominate income effects for women, reflecting greater gender equality in the workforce as well reduction of the “marriage tax” in the US tax code.</a:t>
            </a:r>
          </a:p>
          <a:p>
            <a:pPr marL="285750" indent="-285750">
              <a:buFont typeface="Symbol" pitchFamily="2" charset="2"/>
              <a:buChar char="Þ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72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85B57-5A67-B6CA-C527-DE0B1F3D0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D9225-DD7D-F5B4-5E2C-76675710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Increased female labor force participation may reflect a higher relative weight on “C” in female utility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AAE3E1-E120-B693-7BB7-C8E1E5BAA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817" y="1841590"/>
            <a:ext cx="7772400" cy="463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75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3C5F6-347A-15EE-F6D7-B38BE14EA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449E-1DD2-2E48-77F1-7588178D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811" y="277638"/>
            <a:ext cx="2473105" cy="3151362"/>
          </a:xfrm>
        </p:spPr>
        <p:txBody>
          <a:bodyPr>
            <a:normAutofit fontScale="90000"/>
          </a:bodyPr>
          <a:lstStyle/>
          <a:p>
            <a:r>
              <a:rPr lang="en-US" dirty="0"/>
              <a:t>At the extensive margin, there has been a shift in the age of people at work, with more young women working and fewer older men working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75DDD-7606-9FBD-22B8-9CA2414A3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63" y="716302"/>
            <a:ext cx="7581900" cy="292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B2209E-F007-0088-2C6F-8C7205373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63" y="3873157"/>
            <a:ext cx="75438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9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86089-CB65-0110-C8DD-C003D842A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F537-C765-9C49-F669-129B28F4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Lower older-age participation, especially among men, may reflect higher retirement benefits (income effect)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2F983-B18B-96DB-DA77-E41DC3D7F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299" y="1658941"/>
            <a:ext cx="45847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62916"/>
      </p:ext>
    </p:extLst>
  </p:cSld>
  <p:clrMapOvr>
    <a:masterClrMapping/>
  </p:clrMapOvr>
</p:sld>
</file>

<file path=ppt/theme/theme1.xml><?xml version="1.0" encoding="utf-8"?>
<a:theme xmlns:a="http://schemas.openxmlformats.org/drawingml/2006/main" name="UW_PP1_UW_intr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</TotalTime>
  <Words>264</Words>
  <Application>Microsoft Macintosh PowerPoint</Application>
  <PresentationFormat>Widescreen</PresentationFormat>
  <Paragraphs>19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Symbol</vt:lpstr>
      <vt:lpstr>Times New Roman</vt:lpstr>
      <vt:lpstr>UW_PP1_UW_intro</vt:lpstr>
      <vt:lpstr>Trends in employment data</vt:lpstr>
      <vt:lpstr>Movements at the extensive margin seem driven by something other than real returns to employment</vt:lpstr>
      <vt:lpstr>Income effects appear to dominate substitution effects at the intensive margin over long periods of time</vt:lpstr>
      <vt:lpstr>But average annual hours is not the same as hours per worker (Mcgratten and Rogerson). Hours per worker has only fallen 5%:</vt:lpstr>
      <vt:lpstr>Most of the small remaining aggregate dynamics at the intensive margin are compositional effects, as women, who work on average fewer hours, make up more of the labor force.</vt:lpstr>
      <vt:lpstr>Increased female labor force participation may reflect strong female-specific after-tax real wage increases (substitution effect)</vt:lpstr>
      <vt:lpstr>Summary so far:</vt:lpstr>
      <vt:lpstr>Increased female labor force participation may reflect a higher relative weight on “C” in female utility</vt:lpstr>
      <vt:lpstr>At the extensive margin, there has been a shift in the age of people at work, with more young women working and fewer older men working</vt:lpstr>
      <vt:lpstr>Lower older-age participation, especially among men, may reflect higher retirement benefits (income effect)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Gwen Eudey</dc:creator>
  <cp:lastModifiedBy>Gwen Eudey</cp:lastModifiedBy>
  <cp:revision>29</cp:revision>
  <cp:lastPrinted>2025-04-05T21:05:25Z</cp:lastPrinted>
  <dcterms:created xsi:type="dcterms:W3CDTF">2024-10-20T12:46:13Z</dcterms:created>
  <dcterms:modified xsi:type="dcterms:W3CDTF">2026-06-17T12:07:51Z</dcterms:modified>
</cp:coreProperties>
</file>
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4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4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5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1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7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5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6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3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65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788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663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529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409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277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962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2408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3907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783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57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FF136-BA68-4A43-8213-401BD8711427}" type="datetimeFigureOut">
              <a:rPr lang="en-US" smtClean="0"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C841C-25AD-4338-AB83-4342B1A9D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9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6C41D-8A53-407B-81A0-E7113586A0B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F89D4-FED6-433B-ABFE-F5610D187D3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96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Graphically, the increase in t is the opposite case of slide 23 in the second set of slides (which showed an increase w)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28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13647" y="871369"/>
            <a:ext cx="10758" cy="4722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624405" y="5550946"/>
            <a:ext cx="5862917" cy="53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24405" y="1559859"/>
            <a:ext cx="3163553" cy="35285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0612" y="6669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5656" y="578761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Script MT Bold" panose="03040602040607080904" pitchFamily="66" charset="0"/>
              </a:rPr>
              <a:t>l</a:t>
            </a:r>
            <a:endParaRPr lang="en-US" dirty="0">
              <a:solidFill>
                <a:prstClr val="black"/>
              </a:solidFill>
              <a:latin typeface="Script MT Bold" panose="03040602040607080904" pitchFamily="66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868717" y="2237590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9133" y="4864263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IC(1)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9859" y="436762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840949" y="1387415"/>
                <a:ext cx="615897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C00000"/>
                    </a:solidFill>
                  </a:rPr>
                  <a:t>Consider an increase in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prstClr val="black"/>
                    </a:solidFill>
                  </a:rPr>
                  <a:t>The budget constraint gets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flatter </a:t>
                </a:r>
                <a:r>
                  <a:rPr lang="en-US" sz="2400" dirty="0">
                    <a:solidFill>
                      <a:prstClr val="black"/>
                    </a:solidFill>
                  </a:rPr>
                  <a:t>(slope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w(1-t)) </a:t>
                </a:r>
                <a:r>
                  <a:rPr lang="en-US" sz="2400" dirty="0">
                    <a:solidFill>
                      <a:prstClr val="black"/>
                    </a:solidFill>
                  </a:rPr>
                  <a:t>with no change in the horizontal intercept (no impact on the budget constraint at the point where the household isn’t working</a:t>
                </a:r>
                <a:r>
                  <a:rPr lang="en-US" sz="2400" dirty="0">
                    <a:solidFill>
                      <a:prstClr val="black"/>
                    </a:solidFill>
                  </a:rPr>
                  <a:t>)</a:t>
                </a: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949" y="1387415"/>
                <a:ext cx="6158979" cy="3046988"/>
              </a:xfrm>
              <a:prstGeom prst="rect">
                <a:avLst/>
              </a:prstGeom>
              <a:blipFill rotWithShape="0">
                <a:blip r:embed="rId2"/>
                <a:stretch>
                  <a:fillRect l="-1485" t="-1603" r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 flipH="1">
            <a:off x="1613647" y="4302803"/>
            <a:ext cx="2546447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1" idx="1"/>
          </p:cNvCxnSpPr>
          <p:nvPr/>
        </p:nvCxnSpPr>
        <p:spPr>
          <a:xfrm flipH="1">
            <a:off x="4063881" y="4346645"/>
            <a:ext cx="67056" cy="123396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9625" y="430280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86589" y="577685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</a:rPr>
              <a:t>l1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87958" y="5088367"/>
            <a:ext cx="9953" cy="5575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Case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84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5825039" y="225038"/>
                <a:ext cx="523382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039" y="225038"/>
                <a:ext cx="5233821" cy="7386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38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13647" y="871369"/>
            <a:ext cx="10758" cy="4722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624405" y="5550946"/>
            <a:ext cx="5862917" cy="53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24405" y="1559859"/>
            <a:ext cx="3163553" cy="3528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0612" y="6669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5656" y="578761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Script MT Bold" panose="03040602040607080904" pitchFamily="66" charset="0"/>
              </a:rPr>
              <a:t>l</a:t>
            </a:r>
            <a:endParaRPr lang="en-US" dirty="0">
              <a:solidFill>
                <a:prstClr val="black"/>
              </a:solidFill>
              <a:latin typeface="Script MT Bold" panose="03040602040607080904" pitchFamily="66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868717" y="2237590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9133" y="4864263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IC(2)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16696" y="376519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825040" y="640536"/>
                <a:ext cx="615897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C00000"/>
                    </a:solidFill>
                  </a:rPr>
                  <a:t>Consider an increase in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prstClr val="black"/>
                    </a:solidFill>
                  </a:rPr>
                  <a:t>The budget constraint gets </a:t>
                </a:r>
                <a:r>
                  <a:rPr lang="en-US" sz="2400" dirty="0">
                    <a:solidFill>
                      <a:prstClr val="black"/>
                    </a:solidFill>
                  </a:rPr>
                  <a:t>flatter </a:t>
                </a:r>
                <a:r>
                  <a:rPr lang="en-US" sz="2400" dirty="0">
                    <a:solidFill>
                      <a:prstClr val="black"/>
                    </a:solidFill>
                  </a:rPr>
                  <a:t>(slope </a:t>
                </a:r>
                <a:r>
                  <a:rPr lang="en-US" sz="2400" dirty="0">
                    <a:solidFill>
                      <a:prstClr val="black"/>
                    </a:solidFill>
                  </a:rPr>
                  <a:t>w(1-t)) </a:t>
                </a:r>
                <a:r>
                  <a:rPr lang="en-US" sz="2400" dirty="0">
                    <a:solidFill>
                      <a:prstClr val="black"/>
                    </a:solidFill>
                  </a:rPr>
                  <a:t>with no change in the horizontal intercept (no impact on the budget constraint at the point where the household isn’t working)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prstClr val="black"/>
                    </a:solidFill>
                  </a:rPr>
                  <a:t>Welfare decreases</a:t>
                </a:r>
                <a:r>
                  <a:rPr lang="en-US" sz="2400" dirty="0">
                    <a:solidFill>
                      <a:prstClr val="black"/>
                    </a:solidFill>
                  </a:rPr>
                  <a:t>, as we are on a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lower </a:t>
                </a:r>
                <a:r>
                  <a:rPr lang="en-US" sz="2400" dirty="0">
                    <a:solidFill>
                      <a:prstClr val="black"/>
                    </a:solidFill>
                  </a:rPr>
                  <a:t>IC</a:t>
                </a:r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040" y="640536"/>
                <a:ext cx="6158979" cy="3416320"/>
              </a:xfrm>
              <a:prstGeom prst="rect">
                <a:avLst/>
              </a:prstGeom>
              <a:blipFill rotWithShape="0">
                <a:blip r:embed="rId2"/>
                <a:stretch>
                  <a:fillRect l="-1584" t="-1429" r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1850315" y="301214"/>
            <a:ext cx="2947596" cy="47871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029637" y="2064022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&gt;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4074" y="447645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IC(1)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65688" y="4134529"/>
            <a:ext cx="2453821" cy="894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4240037" y="4279970"/>
            <a:ext cx="2104" cy="129117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7729" y="3958807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57579" y="5807587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l</a:t>
            </a:r>
            <a:r>
              <a:rPr lang="en-US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87958" y="5088367"/>
            <a:ext cx="9953" cy="5575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Case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84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89545" y="217480"/>
                <a:ext cx="34322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545" y="217480"/>
                <a:ext cx="343222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22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13647" y="871369"/>
            <a:ext cx="10758" cy="4722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624405" y="5550946"/>
            <a:ext cx="5862917" cy="53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24405" y="1559859"/>
            <a:ext cx="3163553" cy="3528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0612" y="6669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5656" y="578761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Script MT Bold" panose="03040602040607080904" pitchFamily="66" charset="0"/>
              </a:rPr>
              <a:t>l</a:t>
            </a:r>
            <a:endParaRPr lang="en-US" dirty="0">
              <a:solidFill>
                <a:prstClr val="black"/>
              </a:solidFill>
              <a:latin typeface="Script MT Bold" panose="03040602040607080904" pitchFamily="66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868717" y="2237590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9133" y="4864263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IC(1)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20142" y="402725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B</a:t>
            </a:r>
            <a:endParaRPr 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825040" y="640536"/>
                <a:ext cx="615897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C00000"/>
                    </a:solidFill>
                  </a:rPr>
                  <a:t>Consider an increase in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solidFill>
                      <a:prstClr val="black"/>
                    </a:solidFill>
                  </a:rPr>
                  <a:t>The budget constraint gets flatter (slope w(1-t)) with no change in the horizontal intercept (no impact on the budget constraint at the point where the household isn’t working)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prstClr val="black"/>
                    </a:solidFill>
                  </a:rPr>
                  <a:t>Welfare decreases</a:t>
                </a:r>
                <a:r>
                  <a:rPr lang="en-US" sz="2000" dirty="0">
                    <a:solidFill>
                      <a:prstClr val="black"/>
                    </a:solidFill>
                  </a:rPr>
                  <a:t>, as we are on a </a:t>
                </a:r>
                <a:r>
                  <a:rPr lang="en-US" sz="2000" dirty="0">
                    <a:solidFill>
                      <a:prstClr val="black"/>
                    </a:solidFill>
                  </a:rPr>
                  <a:t>lower </a:t>
                </a:r>
                <a:r>
                  <a:rPr lang="en-US" sz="2000" dirty="0">
                    <a:solidFill>
                      <a:prstClr val="black"/>
                    </a:solidFill>
                  </a:rPr>
                  <a:t>IC.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prstClr val="black"/>
                    </a:solidFill>
                  </a:rPr>
                  <a:t>A =&gt; B </a:t>
                </a:r>
                <a:r>
                  <a:rPr lang="en-US" sz="2000" dirty="0">
                    <a:solidFill>
                      <a:prstClr val="black"/>
                    </a:solidFill>
                  </a:rPr>
                  <a:t>Income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decreases</a:t>
                </a:r>
                <a:r>
                  <a:rPr lang="en-US" sz="2000" dirty="0">
                    <a:solidFill>
                      <a:prstClr val="black"/>
                    </a:solidFill>
                  </a:rPr>
                  <a:t>, so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both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C and 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l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b="1" dirty="0" smtClean="0">
                    <a:solidFill>
                      <a:prstClr val="black"/>
                    </a:solidFill>
                  </a:rPr>
                  <a:t>down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 (normal goods). This implies N up and GDP up. C falls as GDP because some GDP goes to G.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</a:rPr>
                  <a:t>B is to the left of the tangency of IC and PPF (slope of IC2 is greater than slope of budget constraint at point B)</a:t>
                </a:r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040" y="640536"/>
                <a:ext cx="6158979" cy="4893647"/>
              </a:xfrm>
              <a:prstGeom prst="rect">
                <a:avLst/>
              </a:prstGeom>
              <a:blipFill rotWithShape="0">
                <a:blip r:embed="rId2"/>
                <a:stretch>
                  <a:fillRect l="-1089" t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1850315" y="301214"/>
            <a:ext cx="2947596" cy="478715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029637" y="2064022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&gt;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06743" y="360797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black"/>
                </a:solidFill>
              </a:rPr>
              <a:t>A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4074" y="447645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IC(2)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91273" y="577685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</a:rPr>
              <a:t>l1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87958" y="5088367"/>
            <a:ext cx="9953" cy="5575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Case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84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056647" y="3192473"/>
            <a:ext cx="281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prstClr val="black"/>
                </a:solidFill>
              </a:rPr>
              <a:t>.</a:t>
            </a:r>
            <a:endParaRPr lang="en-US" sz="7200" dirty="0">
              <a:solidFill>
                <a:prstClr val="black"/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4207506" y="4112253"/>
            <a:ext cx="3804" cy="1465587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25040" y="150480"/>
                <a:ext cx="34322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040" y="150480"/>
                <a:ext cx="343222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H="1" flipV="1">
            <a:off x="1646400" y="4082812"/>
            <a:ext cx="2453821" cy="894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7729" y="3958807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64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13647" y="871369"/>
            <a:ext cx="10758" cy="4722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624405" y="5550946"/>
            <a:ext cx="5862917" cy="53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24405" y="1559859"/>
            <a:ext cx="3163553" cy="3528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0612" y="6669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5656" y="578761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Script MT Bold" panose="03040602040607080904" pitchFamily="66" charset="0"/>
              </a:rPr>
              <a:t>l</a:t>
            </a:r>
            <a:endParaRPr lang="en-US" dirty="0">
              <a:solidFill>
                <a:prstClr val="black"/>
              </a:solidFill>
              <a:latin typeface="Script MT Bold" panose="03040602040607080904" pitchFamily="66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868717" y="2237590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9133" y="4864263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IC(2)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9859" y="43676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C</a:t>
            </a:r>
            <a:endParaRPr 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953590" y="546732"/>
                <a:ext cx="6158979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C00000"/>
                    </a:solidFill>
                  </a:rPr>
                  <a:t>Consider an increase in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solidFill>
                      <a:prstClr val="black"/>
                    </a:solidFill>
                  </a:rPr>
                  <a:t>The budget constraint gets flatter (slope w(1-t)) with no change in the horizontal intercept (no impact on the budget constraint at the point where the household isn’t working)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prstClr val="black"/>
                    </a:solidFill>
                  </a:rPr>
                  <a:t>Welfare decreases, as we are on a lower IC.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prstClr val="black"/>
                    </a:solidFill>
                  </a:rPr>
                  <a:t>A =&gt; B </a:t>
                </a:r>
                <a:r>
                  <a:rPr lang="en-US" sz="2000" dirty="0">
                    <a:solidFill>
                      <a:prstClr val="black"/>
                    </a:solidFill>
                  </a:rPr>
                  <a:t>Income </a:t>
                </a:r>
                <a:r>
                  <a:rPr lang="en-US" sz="2000" dirty="0">
                    <a:solidFill>
                      <a:prstClr val="black"/>
                    </a:solidFill>
                  </a:rPr>
                  <a:t>decreases</a:t>
                </a:r>
                <a:r>
                  <a:rPr lang="en-US" sz="2000" dirty="0">
                    <a:solidFill>
                      <a:prstClr val="black"/>
                    </a:solidFill>
                  </a:rPr>
                  <a:t>, so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both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C and 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l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down</a:t>
                </a:r>
                <a:r>
                  <a:rPr lang="en-US" sz="2000" dirty="0">
                    <a:solidFill>
                      <a:prstClr val="black"/>
                    </a:solidFill>
                  </a:rPr>
                  <a:t> (normal goods). </a:t>
                </a:r>
                <a:endParaRPr lang="en-US" sz="20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solidFill>
                      <a:srgbClr val="C00000"/>
                    </a:solidFill>
                  </a:rPr>
                  <a:t>B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=&gt;C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W(1-t) </a:t>
                </a:r>
                <a:r>
                  <a:rPr lang="en-US" sz="2000" dirty="0">
                    <a:solidFill>
                      <a:prstClr val="black"/>
                    </a:solidFill>
                  </a:rPr>
                  <a:t>= MRS(l, C) increases, 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we are on a steeper part of IC that is tangent to the steeper budget constraint. 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C down again but </a:t>
                </a:r>
                <a:r>
                  <a:rPr lang="en-US" sz="2000" b="1" i="1" dirty="0">
                    <a:solidFill>
                      <a:srgbClr val="C00000"/>
                    </a:solidFill>
                  </a:rPr>
                  <a:t>l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up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sz="2000" dirty="0">
                    <a:solidFill>
                      <a:prstClr val="black"/>
                    </a:solidFill>
                  </a:rPr>
                  <a:t>as move along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IC2 </a:t>
                </a:r>
                <a:r>
                  <a:rPr lang="en-US" sz="2000" dirty="0">
                    <a:solidFill>
                      <a:prstClr val="black"/>
                    </a:solidFill>
                  </a:rPr>
                  <a:t>(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substitution effect</a:t>
                </a:r>
                <a:r>
                  <a:rPr lang="en-US" sz="2000" dirty="0">
                    <a:solidFill>
                      <a:prstClr val="black"/>
                    </a:solidFill>
                  </a:rPr>
                  <a:t>). 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590" y="546732"/>
                <a:ext cx="6158979" cy="4832092"/>
              </a:xfrm>
              <a:prstGeom prst="rect">
                <a:avLst/>
              </a:prstGeom>
              <a:blipFill rotWithShape="0">
                <a:blip r:embed="rId2"/>
                <a:stretch>
                  <a:fillRect l="-1089"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1850315" y="301214"/>
            <a:ext cx="2947596" cy="478715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029637" y="2064022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&gt;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8072" y="390685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B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4074" y="447645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IC(1)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1677115" y="4302803"/>
            <a:ext cx="25464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003761" y="4313562"/>
            <a:ext cx="15324" cy="11707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0612" y="376158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9625" y="430280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C2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68978" y="5787614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0070C0"/>
                </a:solidFill>
              </a:rPr>
              <a:t>l2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91273" y="577685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</a:rPr>
              <a:t>l1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87958" y="5088367"/>
            <a:ext cx="9953" cy="5575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Case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84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790910" y="3264912"/>
            <a:ext cx="281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prstClr val="black"/>
                </a:solidFill>
              </a:rPr>
              <a:t>.</a:t>
            </a:r>
            <a:endParaRPr lang="en-US" sz="7200" dirty="0">
              <a:solidFill>
                <a:prstClr val="black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75537" y="3178851"/>
            <a:ext cx="281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00000"/>
                </a:solidFill>
              </a:rPr>
              <a:t>.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11310" y="356105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1624405" y="3961895"/>
            <a:ext cx="2546447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207506" y="4112253"/>
            <a:ext cx="3804" cy="1465587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89545" y="166104"/>
                <a:ext cx="34322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545" y="166104"/>
                <a:ext cx="343222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946743" y="3496201"/>
            <a:ext cx="281841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0070C0"/>
                </a:solidFill>
              </a:rPr>
              <a:t>.</a:t>
            </a:r>
            <a:endParaRPr lang="en-US" sz="7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86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13647" y="871369"/>
            <a:ext cx="10758" cy="4722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624405" y="5550946"/>
            <a:ext cx="5862917" cy="53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24405" y="1559859"/>
            <a:ext cx="3163553" cy="3528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0612" y="6669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5656" y="578761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Script MT Bold" panose="03040602040607080904" pitchFamily="66" charset="0"/>
              </a:rPr>
              <a:t>l</a:t>
            </a:r>
            <a:endParaRPr lang="en-US" dirty="0">
              <a:solidFill>
                <a:prstClr val="black"/>
              </a:solidFill>
              <a:latin typeface="Script MT Bold" panose="03040602040607080904" pitchFamily="66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868717" y="2237590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9133" y="4864263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IC(2)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9859" y="43676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C</a:t>
            </a:r>
            <a:endParaRPr 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956948" y="586812"/>
                <a:ext cx="6158979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C00000"/>
                    </a:solidFill>
                  </a:rPr>
                  <a:t>Consider an increase in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solidFill>
                      <a:prstClr val="black"/>
                    </a:solidFill>
                  </a:rPr>
                  <a:t>The budget constraint gets flatter (slope w(1-t)) with no change in the horizontal intercept (no impact on the budget constraint at the point where the household isn’t working)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prstClr val="black"/>
                    </a:solidFill>
                  </a:rPr>
                  <a:t>Welfare decreases, as we are on a lower IC.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prstClr val="black"/>
                    </a:solidFill>
                  </a:rPr>
                  <a:t>A =&gt; B </a:t>
                </a:r>
                <a:r>
                  <a:rPr lang="en-US" sz="2000" dirty="0">
                    <a:solidFill>
                      <a:prstClr val="black"/>
                    </a:solidFill>
                  </a:rPr>
                  <a:t>Income </a:t>
                </a:r>
                <a:r>
                  <a:rPr lang="en-US" sz="2000" dirty="0">
                    <a:solidFill>
                      <a:prstClr val="black"/>
                    </a:solidFill>
                  </a:rPr>
                  <a:t>decreases</a:t>
                </a:r>
                <a:r>
                  <a:rPr lang="en-US" sz="2000" dirty="0">
                    <a:solidFill>
                      <a:prstClr val="black"/>
                    </a:solidFill>
                  </a:rPr>
                  <a:t>, so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both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C and 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l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b="1" dirty="0">
                    <a:solidFill>
                      <a:prstClr val="black"/>
                    </a:solidFill>
                  </a:rPr>
                  <a:t>down</a:t>
                </a:r>
                <a:r>
                  <a:rPr lang="en-US" sz="2000" dirty="0">
                    <a:solidFill>
                      <a:prstClr val="black"/>
                    </a:solidFill>
                  </a:rPr>
                  <a:t> (normal goods). </a:t>
                </a:r>
                <a:endParaRPr lang="en-US" sz="20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solidFill>
                      <a:srgbClr val="C00000"/>
                    </a:solidFill>
                  </a:rPr>
                  <a:t>B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=&gt;C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W(1-t) </a:t>
                </a:r>
                <a:r>
                  <a:rPr lang="en-US" sz="2000" dirty="0">
                    <a:solidFill>
                      <a:prstClr val="black"/>
                    </a:solidFill>
                  </a:rPr>
                  <a:t>= MRS(l, C) increases, 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we are on a steeper part of IC that is tangent to the steeper budget constraint. 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C down again but </a:t>
                </a:r>
                <a:r>
                  <a:rPr lang="en-US" sz="2000" b="1" i="1" dirty="0">
                    <a:solidFill>
                      <a:srgbClr val="C00000"/>
                    </a:solidFill>
                  </a:rPr>
                  <a:t>l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up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sz="2000" dirty="0">
                    <a:solidFill>
                      <a:prstClr val="black"/>
                    </a:solidFill>
                  </a:rPr>
                  <a:t>as move along </a:t>
                </a:r>
                <a:r>
                  <a:rPr lang="en-US" sz="2000" dirty="0" smtClean="0">
                    <a:solidFill>
                      <a:prstClr val="black"/>
                    </a:solidFill>
                  </a:rPr>
                  <a:t>IC2 </a:t>
                </a:r>
                <a:r>
                  <a:rPr lang="en-US" sz="2000" dirty="0">
                    <a:solidFill>
                      <a:prstClr val="black"/>
                    </a:solidFill>
                  </a:rPr>
                  <a:t>(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substitution effect</a:t>
                </a:r>
                <a:r>
                  <a:rPr lang="en-US" sz="2000" dirty="0">
                    <a:solidFill>
                      <a:prstClr val="black"/>
                    </a:solidFill>
                  </a:rPr>
                  <a:t>). 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400" dirty="0" smtClean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48" y="586812"/>
                <a:ext cx="6158979" cy="4832092"/>
              </a:xfrm>
              <a:prstGeom prst="rect">
                <a:avLst/>
              </a:prstGeom>
              <a:blipFill rotWithShape="0">
                <a:blip r:embed="rId2"/>
                <a:stretch>
                  <a:fillRect l="-989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1850315" y="301214"/>
            <a:ext cx="2947596" cy="478715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029637" y="2064022"/>
            <a:ext cx="2499810" cy="2678654"/>
          </a:xfrm>
          <a:custGeom>
            <a:avLst/>
            <a:gdLst>
              <a:gd name="connsiteX0" fmla="*/ 133128 w 2499810"/>
              <a:gd name="connsiteY0" fmla="*/ 0 h 1871831"/>
              <a:gd name="connsiteX1" fmla="*/ 262220 w 2499810"/>
              <a:gd name="connsiteY1" fmla="*/ 1473798 h 1871831"/>
              <a:gd name="connsiteX2" fmla="*/ 2499810 w 2499810"/>
              <a:gd name="connsiteY2" fmla="*/ 1871831 h 1871831"/>
              <a:gd name="connsiteX3" fmla="*/ 2499810 w 2499810"/>
              <a:gd name="connsiteY3" fmla="*/ 1871831 h 187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9810" h="1871831">
                <a:moveTo>
                  <a:pt x="133128" y="0"/>
                </a:moveTo>
                <a:cubicBezTo>
                  <a:pt x="450" y="580913"/>
                  <a:pt x="-132227" y="1161826"/>
                  <a:pt x="262220" y="1473798"/>
                </a:cubicBezTo>
                <a:cubicBezTo>
                  <a:pt x="656667" y="1785770"/>
                  <a:pt x="2499810" y="1871831"/>
                  <a:pt x="2499810" y="1871831"/>
                </a:cubicBezTo>
                <a:lnTo>
                  <a:pt x="2499810" y="1871831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&gt;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8072" y="390685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B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4074" y="447645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IC(1)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1677115" y="4302803"/>
            <a:ext cx="25464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003761" y="4313562"/>
            <a:ext cx="15324" cy="11707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0612" y="376158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9625" y="430280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C2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68978" y="5787614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0070C0"/>
                </a:solidFill>
              </a:rPr>
              <a:t>l2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91273" y="577685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</a:rPr>
              <a:t>l1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87958" y="5088367"/>
            <a:ext cx="9953" cy="5575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Case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05" y="402146"/>
                <a:ext cx="192892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84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790910" y="3264912"/>
            <a:ext cx="281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prstClr val="black"/>
                </a:solidFill>
              </a:rPr>
              <a:t>.</a:t>
            </a:r>
            <a:endParaRPr lang="en-US" sz="7200" dirty="0">
              <a:solidFill>
                <a:prstClr val="black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75537" y="3178851"/>
            <a:ext cx="281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00000"/>
                </a:solidFill>
              </a:rPr>
              <a:t>.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11310" y="356105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1624405" y="3961895"/>
            <a:ext cx="2546447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207506" y="4112253"/>
            <a:ext cx="3804" cy="1465587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89545" y="166104"/>
                <a:ext cx="34322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545" y="166104"/>
                <a:ext cx="343222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946743" y="3496201"/>
            <a:ext cx="281841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0070C0"/>
                </a:solidFill>
              </a:rPr>
              <a:t>.</a:t>
            </a:r>
            <a:endParaRPr lang="en-US" sz="72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76721" y="4454617"/>
            <a:ext cx="35141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As drawn, leisure </a:t>
            </a:r>
            <a:r>
              <a:rPr lang="en-US" dirty="0" smtClean="0">
                <a:solidFill>
                  <a:prstClr val="black"/>
                </a:solidFill>
              </a:rPr>
              <a:t>decreased and N and GDP went up, </a:t>
            </a:r>
            <a:r>
              <a:rPr lang="en-US" dirty="0">
                <a:solidFill>
                  <a:prstClr val="black"/>
                </a:solidFill>
              </a:rPr>
              <a:t>but in general the </a:t>
            </a:r>
            <a:r>
              <a:rPr lang="en-US" b="1" dirty="0" smtClean="0">
                <a:solidFill>
                  <a:srgbClr val="C00000"/>
                </a:solidFill>
              </a:rPr>
              <a:t>change in leisure/labor and GDP is ambiguous because the income and substitution effects influence leisure in opposite directions.</a:t>
            </a:r>
            <a:r>
              <a:rPr lang="en-US" dirty="0">
                <a:solidFill>
                  <a:prstClr val="black"/>
                </a:solidFill>
              </a:rPr>
              <a:t> The increase in C however is unambiguous.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2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589</Words>
  <Application>Microsoft Office PowerPoint</Application>
  <PresentationFormat>Widescreen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Script MT Bold</vt:lpstr>
      <vt:lpstr>Office Theme</vt:lpstr>
      <vt:lpstr>1_Office Theme</vt:lpstr>
      <vt:lpstr>Graphically, the increase in t is the opposite case of slide 23 in the second set of slides (which showed an increase w)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Wisconsin School of Business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Graphically, the increase in t is the opposite case of slide 23 in the second set of slides (which showed an increase w)</dc:title>
  <dc:creator>Gwen Eudey</dc:creator>
  <cp:lastModifiedBy>Gwen Eudey</cp:lastModifiedBy>
  <cp:revision>3</cp:revision>
  <dcterms:created xsi:type="dcterms:W3CDTF">2017-07-19T22:30:28Z</dcterms:created>
  <dcterms:modified xsi:type="dcterms:W3CDTF">2017-07-19T22:40:37Z</dcterms:modified>
</cp:coreProperties>
</file>